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AE5F7-F0AA-CB04-2760-A290F3001C22}" v="138" dt="2026-01-06T04:41:00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624596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81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5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2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56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76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40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01456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40333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12885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reepngimg.com/png/36635-football-soccer-bal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519689" cy="2852928"/>
          </a:xfrm>
        </p:spPr>
        <p:txBody>
          <a:bodyPr/>
          <a:lstStyle/>
          <a:p>
            <a:r>
              <a:rPr lang="en-US" dirty="0"/>
              <a:t>Football Match Predictions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Sana El-Kazaz </a:t>
            </a:r>
          </a:p>
        </p:txBody>
      </p:sp>
      <p:pic>
        <p:nvPicPr>
          <p:cNvPr id="4" name="Picture 3" descr="A person in a blue uniform kicking a football ball&#10;&#10;AI-generated content may be incorrect.">
            <a:extLst>
              <a:ext uri="{FF2B5EF4-FFF2-40B4-BE49-F238E27FC236}">
                <a16:creationId xmlns:a16="http://schemas.microsoft.com/office/drawing/2014/main" id="{ECAAB584-E539-C632-FC93-088E7819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8802429" y="383356"/>
            <a:ext cx="3261077" cy="2402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A close up of a football ball&#10;&#10;AI-generated content may be incorrect.">
            <a:extLst>
              <a:ext uri="{FF2B5EF4-FFF2-40B4-BE49-F238E27FC236}">
                <a16:creationId xmlns:a16="http://schemas.microsoft.com/office/drawing/2014/main" id="{26AA14B4-6939-11F9-355A-6747A37FC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049911" y="3915833"/>
            <a:ext cx="2071512" cy="1532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31FAD-EF07-B804-F657-A1F2D920383A}"/>
              </a:ext>
            </a:extLst>
          </p:cNvPr>
          <p:cNvSpPr txBox="1"/>
          <p:nvPr/>
        </p:nvSpPr>
        <p:spPr>
          <a:xfrm>
            <a:off x="8624710" y="6746521"/>
            <a:ext cx="1586090" cy="86079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565B-E49E-DD9C-CC61-A0B6147F7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THE PROBLEM: Match Outcomes Are Hard to Predict</a:t>
            </a:r>
            <a:endParaRPr lang="en-US" dirty="0">
              <a:latin typeface="Consola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89D7-F04D-4BEB-12EF-692FF7B91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Coaches rely on intuition for match preparation
• Teams struggle with opponent analysis
• Fans want engaging prediction experiences
• 33% random chance for 3-way prediction
</a:t>
            </a:r>
            <a:br>
              <a:rPr lang="en-US" dirty="0">
                <a:solidFill>
                  <a:srgbClr val="0F1115"/>
                </a:solidFill>
                <a:latin typeface="Consolas"/>
              </a:rPr>
            </a:br>
            <a:r>
              <a:rPr lang="en-US" dirty="0">
                <a:solidFill>
                  <a:srgbClr val="0F1115"/>
                </a:solidFill>
                <a:latin typeface="Consolas"/>
              </a:rPr>
              <a:t>GOAL: Build a data model that beats chance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63C9C-B77B-C875-ED05-3E0F49A5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218D7-E2CA-4F5D-8D7B-6FD8387940BE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B4BB-5CB7-89F1-C671-72130B5B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BF426-832B-B765-9DB2-5F1BDADC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4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3AAA-5B0D-85CF-B724-43957DD3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FROM GOALS TO PREDICTIONS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742C-7926-53E5-D48C-338613705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F1115"/>
                </a:solidFill>
                <a:latin typeface="Consolas"/>
              </a:rPr>
              <a:t>Goal-Level Data → Match Aggregation → Feature Engineering → Model Training</a:t>
            </a:r>
            <a:endParaRPr lang="en-US">
              <a:solidFill>
                <a:srgbClr val="000000"/>
              </a:solidFill>
              <a:latin typeface="Avenir Next LT Pro Ligh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F1115"/>
                </a:solidFill>
                <a:latin typeface="Consolas"/>
              </a:rPr>
              <a:t>Key Features Created:
• Team strength scores
• Seasonal patterns
• Historical performance
• Goal statistics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864B7-87F2-4D7B-1F65-CB871DD1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92922-DE5F-4C79-BABB-3E783E80CEDB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C544-FCCF-8612-2146-5BD58EA9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36CC0-3B9B-6D71-8D87-ED319ACD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61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59C0-8431-217B-208A-F3D08E597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MODELS, ONE WINNER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58EFA-16F3-FB5D-CED7-99731759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8298A-7B61-4312-A6BE-66E7A0A8CC42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99B60-A00D-0D33-346D-A0ABC5A8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18052-E944-D761-6937-47B47163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4</a:t>
            </a:fld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FDCB15B-54E7-5145-8AFD-4CFA69B8C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088057"/>
              </p:ext>
            </p:extLst>
          </p:nvPr>
        </p:nvGraphicFramePr>
        <p:xfrm>
          <a:off x="1033816" y="2679700"/>
          <a:ext cx="9088632" cy="2370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544">
                  <a:extLst>
                    <a:ext uri="{9D8B030D-6E8A-4147-A177-3AD203B41FA5}">
                      <a16:colId xmlns:a16="http://schemas.microsoft.com/office/drawing/2014/main" val="4197186056"/>
                    </a:ext>
                  </a:extLst>
                </a:gridCol>
                <a:gridCol w="3029544">
                  <a:extLst>
                    <a:ext uri="{9D8B030D-6E8A-4147-A177-3AD203B41FA5}">
                      <a16:colId xmlns:a16="http://schemas.microsoft.com/office/drawing/2014/main" val="3826071368"/>
                    </a:ext>
                  </a:extLst>
                </a:gridCol>
                <a:gridCol w="3029544">
                  <a:extLst>
                    <a:ext uri="{9D8B030D-6E8A-4147-A177-3AD203B41FA5}">
                      <a16:colId xmlns:a16="http://schemas.microsoft.com/office/drawing/2014/main" val="1333339645"/>
                    </a:ext>
                  </a:extLst>
                </a:gridCol>
              </a:tblGrid>
              <a:tr h="592553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304331"/>
                  </a:ext>
                </a:extLst>
              </a:tr>
              <a:tr h="59255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100%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22996"/>
                  </a:ext>
                </a:extLst>
              </a:tr>
              <a:tr h="592553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10576"/>
                  </a:ext>
                </a:extLst>
              </a:tr>
              <a:tr h="59255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Baseline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552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10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BD01-ABB9-36B7-AE85-86E5BF9F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model: random forest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11FA-C200-660F-06C1-3239CC1B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4452167" cy="41148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F1115"/>
                </a:solidFill>
                <a:latin typeface="Consolas"/>
              </a:rPr>
              <a:t>Technical Specs:
• 100 decision trees
• 3.2s training time
• 0.05s prediction time
• 8 key features
</a:t>
            </a:r>
            <a:br>
              <a:rPr lang="en-US" dirty="0">
                <a:solidFill>
                  <a:srgbClr val="0F1115"/>
                </a:solidFill>
                <a:latin typeface="Consolas"/>
              </a:rPr>
            </a:br>
            <a:endParaRPr lang="en-US" dirty="0">
              <a:solidFill>
                <a:srgbClr val="0F1115"/>
              </a:solidFill>
              <a:latin typeface="Consola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279A-F420-E44F-E55E-BA25D79F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837E9-9778-44A0-A4F8-167B7BD66A33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CD5AF-22DC-AB4F-1D46-B9AED32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3B8C-11DD-7BD2-CB53-D5599433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6559E-47FF-0B37-7591-6C26D260FF08}"/>
              </a:ext>
            </a:extLst>
          </p:cNvPr>
          <p:cNvSpPr txBox="1"/>
          <p:nvPr/>
        </p:nvSpPr>
        <p:spPr>
          <a:xfrm>
            <a:off x="6835254" y="2166582"/>
            <a:ext cx="409432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Performance Highlights:</a:t>
            </a: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r>
              <a:rPr lang="en-US" dirty="0">
                <a:solidFill>
                  <a:srgbClr val="0F1115"/>
                </a:solidFill>
                <a:latin typeface="Consolas"/>
              </a:rPr>
              <a:t>
• Home wins: 65% accurate</a:t>
            </a: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r>
              <a:rPr lang="en-US" dirty="0">
                <a:solidFill>
                  <a:srgbClr val="0F1115"/>
                </a:solidFill>
                <a:latin typeface="Consolas"/>
              </a:rPr>
              <a:t>
• All outcomes: 100% training accuracy</a:t>
            </a: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r>
              <a:rPr lang="en-US" dirty="0">
                <a:solidFill>
                  <a:srgbClr val="0F1115"/>
                </a:solidFill>
                <a:latin typeface="Consolas"/>
              </a:rPr>
              <a:t>
• Consistent across seasons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9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FDB6-CA42-7812-1E28-F319D392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predictive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2AE7-880C-D0FC-F72E-554797F03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Home Team History (28% importance) </a:t>
            </a:r>
          </a:p>
          <a:p>
            <a:pPr marL="457200" indent="-457200">
              <a:buAutoNum type="arabicPeriod"/>
            </a:pPr>
            <a:r>
              <a:rPr lang="en-US" dirty="0"/>
              <a:t>Away Team History (25%)</a:t>
            </a:r>
          </a:p>
          <a:p>
            <a:pPr marL="457200" indent="-457200">
              <a:buAutoNum type="arabicPeriod"/>
            </a:pPr>
            <a:r>
              <a:rPr lang="en-US" dirty="0"/>
              <a:t>Match Month (15%) -seasonal effect</a:t>
            </a:r>
          </a:p>
          <a:p>
            <a:pPr marL="457200" indent="-457200">
              <a:buAutoNum type="arabicPeriod"/>
            </a:pPr>
            <a:r>
              <a:rPr lang="en-US" dirty="0"/>
              <a:t>Scoring History (12 %) </a:t>
            </a:r>
          </a:p>
          <a:p>
            <a:pPr marL="457200" indent="-457200">
              <a:buAutoNum type="arabicPeriod"/>
            </a:pPr>
            <a:r>
              <a:rPr lang="en-US" dirty="0"/>
              <a:t>Penalty Goals (8%) </a:t>
            </a:r>
          </a:p>
          <a:p>
            <a:pPr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D3D0-BEC2-F774-FE85-400418C5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24EE-B2D2-4B5B-9DF4-F0F51A9CE980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16572-A1CB-CC8C-FFAA-EB45F493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9E4A-E356-4707-9D3E-E2DB8C09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51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3C42-46A5-A104-BFCE-2C881C09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it works best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654CB-97EF-3CBB-FEAD-E647D1943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C951D-385D-472A-38E7-B63A3C6C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7BDCF-AC2C-4A60-8D9F-0E2CE1269054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DAA45-73B9-0931-0EC0-240C0DB4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44B1E-B937-968B-B57C-8106E954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EBF5D-DDF8-96B2-8CB6-ED1AA65917A0}"/>
              </a:ext>
            </a:extLst>
          </p:cNvPr>
          <p:cNvSpPr txBox="1"/>
          <p:nvPr/>
        </p:nvSpPr>
        <p:spPr>
          <a:xfrm>
            <a:off x="1353403" y="2217760"/>
            <a:ext cx="887104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Predicted vs Actual:</a:t>
            </a: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
Home Win: ████████ 65% correct
Away Win: ████ 35% correct  
Draw:    ███ 28% correct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55247-A3D1-F32D-2AC7-C0CA39ACD7F8}"/>
              </a:ext>
            </a:extLst>
          </p:cNvPr>
          <p:cNvSpPr txBox="1"/>
          <p:nvPr/>
        </p:nvSpPr>
        <p:spPr>
          <a:xfrm>
            <a:off x="1279477" y="5049671"/>
            <a:ext cx="64144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Strengths: Home advantage, seasonal patterns
Challenges: Close matches, unexpected upsets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33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3DCD-F842-2303-6D8D-836EA1F7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05" y="1714147"/>
            <a:ext cx="10357666" cy="1438450"/>
          </a:xfrm>
        </p:spPr>
        <p:txBody>
          <a:bodyPr/>
          <a:lstStyle/>
          <a:p>
            <a:r>
              <a:rPr lang="en-US" dirty="0"/>
              <a:t>BUSSINESS APPLICATIONS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29AB-AE7E-CF55-B15C-BE45120E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13319-DB55-4E15-A122-CA2A25F81659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5C57-34CE-443B-CF1B-6BFDE937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04D2-552B-42CA-1D60-778EAFFA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264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AC14-63F1-D849-1E6F-A55A5D74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624934" cy="1438450"/>
          </a:xfrm>
        </p:spPr>
        <p:txBody>
          <a:bodyPr/>
          <a:lstStyle/>
          <a:p>
            <a:r>
              <a:rPr lang="en-US" sz="2800" dirty="0"/>
              <a:t>Recommendation: Match preparation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C40F-1102-9A20-6FBD-A8CDD6BD3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j-lt"/>
                <a:cs typeface="+mj-lt"/>
              </a:rPr>
              <a:t>Problem: Coaches use gut feeling for tactics</a:t>
            </a:r>
            <a:endParaRPr lang="en-US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Solution: Data-driven opponent analysis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a typeface="+mj-lt"/>
                <a:cs typeface="+mj-lt"/>
              </a:rPr>
              <a:t>Implementation:</a:t>
            </a:r>
            <a:endParaRPr lang="en-US" b="1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1. Pre-match prediction dashboard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2. Opponent weakness identification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3. Training focus optimization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A308E-4B97-693A-F6A6-406486D6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FDDA1-6522-49C2-94F7-7ACA1A4C5E06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41654-BAEC-62B5-DECD-2AECE864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B4928-76E5-C8CF-D78B-4AD32681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81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23B8-C1FA-B62A-4146-B4A18FEB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874737" cy="1397629"/>
          </a:xfrm>
        </p:spPr>
        <p:txBody>
          <a:bodyPr/>
          <a:lstStyle/>
          <a:p>
            <a:r>
              <a:rPr lang="en-US" sz="2800" dirty="0"/>
              <a:t>RECCOMENDATION: TALENT MANAGEMENT</a:t>
            </a:r>
            <a:r>
              <a:rPr lang="en-US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3D863-2AB8-5999-72ED-63EE5264D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38698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Problem: Scouting relies on subjective evaluation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Solution: Performance prediction metrics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ea typeface="+mj-lt"/>
                <a:cs typeface="+mj-lt"/>
              </a:rPr>
              <a:t>Implementation:</a:t>
            </a:r>
            <a:endParaRPr lang="en-US" b="1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1. Player-match compatibility scoring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2. Away-game specialist identification  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3. Data-driven recruitment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0344B-D65B-0FA3-233B-527F82DD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82F0-5BA7-453A-8F92-75883048A790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62024-7AEF-992D-D0FE-87605C0D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92AE-FAC7-C10F-EB94-7CDAED4A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0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0057-01F4-D34C-28B9-12187527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RECCOMENDATION: FAN ENGAGEMENT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8AEA8-DC37-918E-3D62-68948EC60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j-lt"/>
                <a:cs typeface="+mj-lt"/>
              </a:rPr>
              <a:t>Problem: Limited digital fan interaction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Solution: Prediction-based engagement features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>
                <a:ea typeface="+mj-lt"/>
                <a:cs typeface="+mj-lt"/>
              </a:rPr>
              <a:t>Implementation:</a:t>
            </a:r>
            <a:endParaRPr lang="en-US" b="1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1. "Predict the Match" mobile app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2. Social media prediction challenges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3. Stadium prediction displays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54D0A-1658-BDBF-0F47-23B20345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90ECB-F0FC-4AB3-843D-0B7035459605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4062C-9113-DD57-CC9A-70058747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5DC63-6CFF-4A39-FEF7-F2E450F9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91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A68B-49F5-DC08-A03C-1BD7FAB8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09126-2C51-07E4-4DB8-1F5E0C133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TECHNICAL SUCCES: </a:t>
            </a:r>
          </a:p>
          <a:p>
            <a:r>
              <a:rPr lang="en-US" dirty="0">
                <a:solidFill>
                  <a:srgbClr val="000000"/>
                </a:solidFill>
              </a:rPr>
              <a:t>100% training accuracy --&gt; 55%+ real world goal </a:t>
            </a:r>
          </a:p>
          <a:p>
            <a:r>
              <a:rPr lang="en-US" dirty="0">
                <a:solidFill>
                  <a:srgbClr val="000000"/>
                </a:solidFill>
              </a:rPr>
              <a:t>&lt;0.1 prediction time</a:t>
            </a:r>
          </a:p>
          <a:p>
            <a:r>
              <a:rPr lang="en-US" dirty="0">
                <a:solidFill>
                  <a:srgbClr val="000000"/>
                </a:solidFill>
              </a:rPr>
              <a:t>99.9 system uptime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BUSINESS SUCCESS: </a:t>
            </a:r>
          </a:p>
          <a:p>
            <a:r>
              <a:rPr lang="en-US" sz="2200" dirty="0">
                <a:solidFill>
                  <a:srgbClr val="0F1115"/>
                </a:solidFill>
                <a:ea typeface="+mj-lt"/>
                <a:cs typeface="+mj-lt"/>
              </a:rPr>
              <a:t>Match outcome improvement</a:t>
            </a:r>
          </a:p>
          <a:p>
            <a:r>
              <a:rPr lang="en-US" sz="2200" dirty="0">
                <a:solidFill>
                  <a:srgbClr val="0F1115"/>
                </a:solidFill>
                <a:ea typeface="+mj-lt"/>
                <a:cs typeface="+mj-lt"/>
              </a:rPr>
              <a:t>Fan engagement increase</a:t>
            </a:r>
          </a:p>
          <a:p>
            <a:r>
              <a:rPr lang="en-US" sz="2200" dirty="0">
                <a:solidFill>
                  <a:srgbClr val="0F1115"/>
                </a:solidFill>
                <a:ea typeface="+mj-lt"/>
                <a:cs typeface="+mj-lt"/>
              </a:rPr>
              <a:t>Media partnership value</a:t>
            </a:r>
            <a:endParaRPr lang="en-US" sz="2200" dirty="0">
              <a:solidFill>
                <a:srgbClr val="0F1115"/>
              </a:solidFill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E1CE8-D38B-0830-31D7-4F886439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CC5DA-D7FF-4B9E-B332-0388F4735AD0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4B491-A825-FA0C-98CC-271E87AF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4799A-6D33-8AA1-2397-8121268E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5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4743-CD00-BEB0-2C51-88454CC5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7023-A13E-C846-D46C-EF1520C6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j-lt"/>
                <a:cs typeface="+mj-lt"/>
              </a:rPr>
              <a:t>Key Takeaways:</a:t>
            </a:r>
            <a:endParaRPr lang="en-US" dirty="0"/>
          </a:p>
          <a:p>
            <a:pPr>
              <a:buNone/>
            </a:pPr>
            <a:endParaRPr lang="en-US" dirty="0">
              <a:ea typeface="+mj-lt"/>
              <a:cs typeface="+mj-lt"/>
            </a:endParaRPr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1. Optimized Random Forest model achieved 100% training accuracy, surpassing baseline models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2. Home advantage is most predictable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3. Three actionable business applications</a:t>
            </a:r>
            <a:endParaRPr lang="en-US" dirty="0"/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4. Ready for immediate implementation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9C0B-3AF7-B0D8-A278-7EA79C88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69E6C-914A-49D2-B09E-5EA3141CB6C0}" type="datetime1"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DCF7-5092-6F29-6929-0CF08E51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04C17-791A-3B0E-1369-42175866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52661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VeniceBeachVTI</vt:lpstr>
      <vt:lpstr>Football Match Predictions </vt:lpstr>
      <vt:lpstr>THE PROBLEM: Match Outcomes Are Hard to Predict</vt:lpstr>
      <vt:lpstr>FROM GOALS TO PREDICTIONS</vt:lpstr>
      <vt:lpstr>THREE MODELS, ONE WINNER </vt:lpstr>
      <vt:lpstr>Best model: random forest </vt:lpstr>
      <vt:lpstr>Top 5 predictive Factors </vt:lpstr>
      <vt:lpstr>Where it works best </vt:lpstr>
      <vt:lpstr>BUSSINESS APPLICATIONS </vt:lpstr>
      <vt:lpstr>Recommendation: Match preparation </vt:lpstr>
      <vt:lpstr>RECCOMENDATION: TALENT MANAGEMENT </vt:lpstr>
      <vt:lpstr>RECCOMENDATION: FAN ENGAGEMENT </vt:lpstr>
      <vt:lpstr>SUCCESS METRICS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263</cp:revision>
  <dcterms:created xsi:type="dcterms:W3CDTF">2025-12-01T21:50:53Z</dcterms:created>
  <dcterms:modified xsi:type="dcterms:W3CDTF">2026-01-06T04:55:27Z</dcterms:modified>
</cp:coreProperties>
</file>